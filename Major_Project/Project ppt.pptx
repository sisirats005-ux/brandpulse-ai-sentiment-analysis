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00000"/>
                </a:solidFill>
                <a:latin typeface="Arial"/>
              </a:rPr>
              <a:t>Accuracy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Accuracy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77.400000000000006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87-492C-9E69-C437460A41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BiLSTM</c:v>
                </c:pt>
              </c:strCache>
            </c:strRef>
          </c:tx>
          <c:spPr>
            <a:solidFill>
              <a:srgbClr val="FF6B5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Accuracy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87-492C-9E69-C437460A41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857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442960" y="3624580"/>
            <a:ext cx="3657600" cy="32105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PERSEVEX NLP INTERNSHIP  ·  AUGUST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BrandPulse 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Sentiment Analysis  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Sisira T 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1447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Artificial Intelligence</a:t>
            </a:r>
            <a:endParaRPr lang="en-US" sz="1400" dirty="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79DDFA39-76D6-731A-3620-5E13D9F92CA8}"/>
              </a:ext>
            </a:extLst>
          </p:cNvPr>
          <p:cNvSpPr/>
          <p:nvPr/>
        </p:nvSpPr>
        <p:spPr>
          <a:xfrm>
            <a:off x="7132320" y="22860"/>
            <a:ext cx="4968240" cy="4335780"/>
          </a:xfrm>
          <a:prstGeom prst="ellipse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9304"/>
            <a:ext cx="109728" cy="109728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2471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teams are overwhelmed by tweet volume and have no scalable way to gauge brand sentiment in real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66544"/>
            <a:ext cx="109728" cy="109728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0195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delays response to genuine service failures buried in the noise.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843784"/>
            <a:ext cx="109728" cy="109728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7919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approaches can't separate urgent complaints from neutral or positive chatter fast enough to act 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0" y="457200"/>
            <a:ext cx="5166360" cy="5989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685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720840" y="142646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967728" y="125272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ML pipeline that classifies tweets as Positive, Negative, or Neutral.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235915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967728" y="2185416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Classical NLP model (TF-IDF + Logistic Regression) against a Deep Learning model (Bidirectional LSTM).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329184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967728" y="311810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both with Accuracy, Precision, Recall, F1-score, and confusion matrices.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422452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967728" y="405079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predictions to explain which words drive each sentiment class.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515721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967728" y="49834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both models through an interactive Streamlit dashboard.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Twitter US Airline Sentiment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606040" cy="12344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04672" y="17373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Crowdflower (Feb 2015)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01568" y="1280160"/>
            <a:ext cx="2606040" cy="12344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66160" y="17373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14,640 tweets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63056" y="1280160"/>
            <a:ext cx="2606040" cy="12344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6327648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COVERED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27648" y="17373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major US airlines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24544" y="1280160"/>
            <a:ext cx="2606040" cy="12344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9089136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089136" y="17373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- Negative / Neutral / Positive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Distribution</a:t>
            </a:r>
            <a:endParaRPr lang="en-US" sz="1800" dirty="0"/>
          </a:p>
        </p:txBody>
      </p:sp>
      <p:pic>
        <p:nvPicPr>
          <p:cNvPr id="16" name="Image 0" descr="/home/claude/ppt_build/nb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4023360" cy="2651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02920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Predictive Fields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029200" y="3310128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9" name="Text 16"/>
          <p:cNvSpPr/>
          <p:nvPr/>
        </p:nvSpPr>
        <p:spPr>
          <a:xfrm>
            <a:off x="5257800" y="31455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-raw tweet content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29200" y="3785616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21" name="Text 18"/>
          <p:cNvSpPr/>
          <p:nvPr/>
        </p:nvSpPr>
        <p:spPr>
          <a:xfrm>
            <a:off x="5257800" y="36210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sentiment - target label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029200" y="4261104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23" name="Text 20"/>
          <p:cNvSpPr/>
          <p:nvPr/>
        </p:nvSpPr>
        <p:spPr>
          <a:xfrm>
            <a:off x="5257800" y="4096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- which of 6 airlines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0" y="4736592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25" name="Text 22"/>
          <p:cNvSpPr/>
          <p:nvPr/>
        </p:nvSpPr>
        <p:spPr>
          <a:xfrm>
            <a:off x="5257800" y="4572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negativereason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stated complaint reason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029200" y="5257800"/>
            <a:ext cx="626364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4"/>
          <p:cNvSpPr/>
          <p:nvPr/>
        </p:nvSpPr>
        <p:spPr>
          <a:xfrm>
            <a:off x="5257800" y="53492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62.7% negative, 21.2% neutral, 16.1% positive a heavily imbalanced dataset accounted for during training and evaluation.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611880" cy="153619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" y="13258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3258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307592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1810512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US Airline Sentiment dataset  14,640 real tweets.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16552" y="1188720"/>
            <a:ext cx="3611880" cy="153619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4562856" y="13258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62856" y="13258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02352" y="1307592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Cleaning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99432" y="1810512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URLs/mentions, expand hashtags, lemmatize, remove stopwords (keep negations).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93024" y="1188720"/>
            <a:ext cx="3611880" cy="153619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339328" y="13258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339328" y="13258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78824" y="1307592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75904" y="1810512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balance, word frequency, per-class vocabulary patterns.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862072"/>
            <a:ext cx="3611880" cy="153619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" y="29992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2999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2980944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" y="3483864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(unigrams+bigrams) for classical; tokenize + pad for deep learning.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16552" y="2862072"/>
            <a:ext cx="3611880" cy="153619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4" name="Shape 22"/>
          <p:cNvSpPr/>
          <p:nvPr/>
        </p:nvSpPr>
        <p:spPr>
          <a:xfrm>
            <a:off x="4562856" y="29992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562856" y="2999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02352" y="2980944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99432" y="3483864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Regression, and an Embedding + BiLSTM network.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93024" y="2862072"/>
            <a:ext cx="3611880" cy="153619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8339328" y="29992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339328" y="2999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878824" y="2980944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375904" y="3483864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confusion matrices on a shared test set.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4535424"/>
            <a:ext cx="3611880" cy="153619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4" name="Shape 32"/>
          <p:cNvSpPr/>
          <p:nvPr/>
        </p:nvSpPr>
        <p:spPr>
          <a:xfrm>
            <a:off x="786384" y="46725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786384" y="4672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25880" y="4654296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22960" y="5157216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misclassifications; identify most-confused class pairs.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416552" y="4535424"/>
            <a:ext cx="3611880" cy="153619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9" name="Shape 37"/>
          <p:cNvSpPr/>
          <p:nvPr/>
        </p:nvSpPr>
        <p:spPr>
          <a:xfrm>
            <a:off x="4562856" y="46725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4562856" y="4672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8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102352" y="4654296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Interpretability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4599432" y="5157216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top words driving each sentiment class from model coefficients.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193024" y="4535424"/>
            <a:ext cx="3611880" cy="153619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4" name="Shape 42"/>
          <p:cNvSpPr/>
          <p:nvPr/>
        </p:nvSpPr>
        <p:spPr>
          <a:xfrm>
            <a:off x="8339328" y="46725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5" name="Text 43"/>
          <p:cNvSpPr/>
          <p:nvPr/>
        </p:nvSpPr>
        <p:spPr>
          <a:xfrm>
            <a:off x="8339328" y="4672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9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878824" y="4654296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8375904" y="5157216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dashboard: predict, batch analyze, live-stream demo, compare models.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3024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606040" cy="2286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630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Removal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URLs, @mentions stripped via regex; hashtags expanded to plain words rather than discarded.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01568" y="1280160"/>
            <a:ext cx="2606040" cy="2286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8" name="Shape 6"/>
          <p:cNvSpPr/>
          <p:nvPr/>
        </p:nvSpPr>
        <p:spPr>
          <a:xfrm>
            <a:off x="3584448" y="14630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584448" y="20116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84448" y="26517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Lowercased, HTML entities and non-alphabetic characters removed.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63056" y="1280160"/>
            <a:ext cx="2606040" cy="2286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345936" y="14630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45936" y="20116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Negation-Safe Stopwords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45936" y="26517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 removed, but "not", "no", "never" kept  "not good" must stay distinct from "good".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24544" y="1280160"/>
            <a:ext cx="2606040" cy="2286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9107424" y="14630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107424" y="20116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Lemmatization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07424" y="26517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WordNetLemmatizer normalizes word forms ("running" → "run").</a:t>
            </a:r>
            <a:endParaRPr lang="en-US" sz="105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DB11769-FA4A-B925-000B-00C2143B67E2}"/>
              </a:ext>
            </a:extLst>
          </p:cNvPr>
          <p:cNvGrpSpPr/>
          <p:nvPr/>
        </p:nvGrpSpPr>
        <p:grpSpPr>
          <a:xfrm>
            <a:off x="576072" y="4389120"/>
            <a:ext cx="10881360" cy="1920240"/>
            <a:chOff x="576072" y="3794760"/>
            <a:chExt cx="10881360" cy="1920240"/>
          </a:xfrm>
        </p:grpSpPr>
        <p:sp>
          <p:nvSpPr>
            <p:cNvPr id="19" name="Shape 17"/>
            <p:cNvSpPr/>
            <p:nvPr/>
          </p:nvSpPr>
          <p:spPr>
            <a:xfrm>
              <a:off x="576072" y="3794760"/>
              <a:ext cx="10881360" cy="1920240"/>
            </a:xfrm>
            <a:prstGeom prst="rect">
              <a:avLst/>
            </a:prstGeom>
            <a:solidFill>
              <a:srgbClr val="1E2761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914400" y="4023360"/>
              <a:ext cx="4572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Train / Test Split — 80 / 20 (Stratified)</a:t>
              </a:r>
              <a:endParaRPr lang="en-US" sz="1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914400" y="4434840"/>
              <a:ext cx="64008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11,695 training tweets  ·  2,924 held-out test tweets  ·  random_state = 42, identical for both models</a:t>
              </a:r>
              <a:endParaRPr lang="en-US" sz="12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7863840" y="3977640"/>
              <a:ext cx="164592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80%</a:t>
              </a:r>
              <a:endParaRPr lang="en-US" sz="3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7863840" y="4617720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</a:t>
              </a:r>
              <a:endParaRPr lang="en-US" sz="11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9692640" y="3977640"/>
              <a:ext cx="164592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FF6B5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20%</a:t>
              </a:r>
              <a:endParaRPr lang="en-US" sz="3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9692640" y="4617720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Test</a:t>
              </a:r>
              <a:endParaRPr lang="en-US" sz="1100" dirty="0"/>
            </a:p>
          </p:txBody>
        </p:sp>
      </p:grpSp>
      <p:sp>
        <p:nvSpPr>
          <p:cNvPr id="27" name="Text 25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446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800" dirty="0"/>
          </a:p>
        </p:txBody>
      </p:sp>
      <p:pic>
        <p:nvPicPr>
          <p:cNvPr id="3" name="Image 0" descr="/home/claude/ppt_build/nb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80" y="2016252"/>
            <a:ext cx="5120640" cy="3383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89320" y="1371600"/>
            <a:ext cx="5532120" cy="1417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5" name="Text 2"/>
          <p:cNvSpPr/>
          <p:nvPr/>
        </p:nvSpPr>
        <p:spPr>
          <a:xfrm>
            <a:off x="6217920" y="14813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17920" y="18745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tweets (62.7%) dominate typical for customer-service data. Handled with class-weight balancing and macro-averaged metrics.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989320" y="2999232"/>
            <a:ext cx="5532120" cy="1417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0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 Vocabulary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7920" y="350215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"delayed", "cancelled", "hour", "bag", "hold" dominate negative tweets — mostly operational failures.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4626864"/>
            <a:ext cx="5532120" cy="1417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47365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Gratitude Vocabulary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17920" y="5129784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"thanks", "great", "awesome", "love" dominate positive tweets  quantified later via model coefficients 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49240" cy="49377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Classical NLP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 + Logistic Regression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 + bigrams TF-IDF vectors feed a class-weight-balanced multinomial Logistic Regression classifier.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335584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3200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 (~2 sec)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81304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3657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 (~0.9 MB)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427024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4114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interpretable coefficients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72744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4572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defensible baseline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99632" y="1280160"/>
            <a:ext cx="5349240" cy="4937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Deep Learning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73952" y="18745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Bidirectional LSTM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73952" y="24231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Embedding(128) → BiLSTM(64) → Dense(64, ReLU) → Dropout(0.3) → Dense(3, Softmax), trained with early stopping (patience=2).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73952" y="3493008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3337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word order &amp; context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73952" y="3950208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3794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raw accuracy (80.0%)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73952" y="4407408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51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model (~32 MB)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73952" y="4864608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4709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to train (~100 sec)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6560" y="58775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Model Comparison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041530"/>
              </p:ext>
            </p:extLst>
          </p:nvPr>
        </p:nvGraphicFramePr>
        <p:xfrm>
          <a:off x="543560" y="1600200"/>
          <a:ext cx="5404104" cy="15087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Bidirectional LSTM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218139340"/>
              </p:ext>
            </p:extLst>
          </p:nvPr>
        </p:nvGraphicFramePr>
        <p:xfrm>
          <a:off x="543560" y="3892804"/>
          <a:ext cx="53949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 0" descr="/home/claude/ppt_build/nb2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152" y="1398270"/>
            <a:ext cx="2788920" cy="36525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296152" y="5312664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- BiLSTM (best model)</a:t>
            </a:r>
            <a:endParaRPr lang="en-US" sz="10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A77DAAE-20B1-9476-D1CD-4B7D1437A07B}"/>
              </a:ext>
            </a:extLst>
          </p:cNvPr>
          <p:cNvGrpSpPr/>
          <p:nvPr/>
        </p:nvGrpSpPr>
        <p:grpSpPr>
          <a:xfrm>
            <a:off x="9582912" y="1472184"/>
            <a:ext cx="2240280" cy="4297680"/>
            <a:chOff x="9349740" y="1325880"/>
            <a:chExt cx="2240280" cy="4297680"/>
          </a:xfrm>
        </p:grpSpPr>
        <p:sp>
          <p:nvSpPr>
            <p:cNvPr id="7" name="Shape 2"/>
            <p:cNvSpPr/>
            <p:nvPr/>
          </p:nvSpPr>
          <p:spPr>
            <a:xfrm>
              <a:off x="9349740" y="1325880"/>
              <a:ext cx="2240280" cy="4297680"/>
            </a:xfrm>
            <a:prstGeom prst="rect">
              <a:avLst/>
            </a:prstGeom>
            <a:solidFill>
              <a:srgbClr val="F4F6FC"/>
            </a:solidFill>
            <a:ln/>
          </p:spPr>
        </p:sp>
        <p:sp>
          <p:nvSpPr>
            <p:cNvPr id="8" name="Text 3"/>
            <p:cNvSpPr/>
            <p:nvPr/>
          </p:nvSpPr>
          <p:spPr>
            <a:xfrm>
              <a:off x="9509760" y="141732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Why BiLSTM wins</a:t>
              </a:r>
              <a:endParaRPr lang="en-US" sz="1300" dirty="0"/>
            </a:p>
          </p:txBody>
        </p:sp>
        <p:sp>
          <p:nvSpPr>
            <p:cNvPr id="3" name="Text 4"/>
            <p:cNvSpPr/>
            <p:nvPr/>
          </p:nvSpPr>
          <p:spPr>
            <a:xfrm>
              <a:off x="9509760" y="1920240"/>
              <a:ext cx="1965960" cy="4114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 Learns word order</a:t>
              </a:r>
              <a:endParaRPr lang="en-US" sz="1100" dirty="0"/>
            </a:p>
          </p:txBody>
        </p:sp>
        <p:sp>
          <p:nvSpPr>
            <p:cNvPr id="10" name="Text 5"/>
            <p:cNvSpPr/>
            <p:nvPr/>
          </p:nvSpPr>
          <p:spPr>
            <a:xfrm>
              <a:off x="9509760" y="2487168"/>
              <a:ext cx="1965960" cy="4114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 Captures negation scope</a:t>
              </a:r>
              <a:endParaRPr lang="en-US" sz="1100" dirty="0"/>
            </a:p>
          </p:txBody>
        </p:sp>
        <p:sp>
          <p:nvSpPr>
            <p:cNvPr id="11" name="Text 6"/>
            <p:cNvSpPr/>
            <p:nvPr/>
          </p:nvSpPr>
          <p:spPr>
            <a:xfrm>
              <a:off x="9509760" y="3054096"/>
              <a:ext cx="1965960" cy="4114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 +2.6 pts accuracy</a:t>
              </a:r>
              <a:endParaRPr lang="en-US" sz="1100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9509760" y="3621024"/>
              <a:ext cx="1965960" cy="4114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 Best negative-tweet recall (0.89)</a:t>
              </a:r>
              <a:endParaRPr lang="en-US" sz="110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9509760" y="4434840"/>
              <a:ext cx="1965960" cy="10058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Trade-off: ~50x longer training, ~35x larger model, lower interpretability than Logistic Regression.</a:t>
              </a:r>
              <a:endParaRPr lang="en-US" sz="1000" dirty="0"/>
            </a:p>
          </p:txBody>
        </p:sp>
      </p:grpSp>
      <p:sp>
        <p:nvSpPr>
          <p:cNvPr id="15" name="Text 10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Interpretability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0881360" cy="7772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Logistic Regression assigns each TF-IDF word a signed coefficient per class, the top-weighted words for a class can be read directly as "what the model learned drives this sentiment"  the classical-NLP equivalent of a SHAP summary plot.</a:t>
            </a:r>
            <a:endParaRPr lang="en-US" sz="1250" dirty="0"/>
          </a:p>
        </p:txBody>
      </p:sp>
      <p:pic>
        <p:nvPicPr>
          <p:cNvPr id="5" name="Image 0" descr="/home/claude/ppt_build/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1106424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440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words ("not", "no") rank high for negative sentiment  confirming the preprocessing decision to keep negations was correct.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</a:t>
            </a:r>
            <a:endParaRPr lang="en-US" sz="28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8461A5F-FB9A-1540-11F0-63C96C9DF22A}"/>
              </a:ext>
            </a:extLst>
          </p:cNvPr>
          <p:cNvGrpSpPr/>
          <p:nvPr/>
        </p:nvGrpSpPr>
        <p:grpSpPr>
          <a:xfrm>
            <a:off x="548640" y="1234440"/>
            <a:ext cx="4937760" cy="4783328"/>
            <a:chOff x="640080" y="1234440"/>
            <a:chExt cx="4937760" cy="3977640"/>
          </a:xfrm>
        </p:grpSpPr>
        <p:sp>
          <p:nvSpPr>
            <p:cNvPr id="3" name="Text 1"/>
            <p:cNvSpPr/>
            <p:nvPr/>
          </p:nvSpPr>
          <p:spPr>
            <a:xfrm>
              <a:off x="640080" y="1234440"/>
              <a:ext cx="4572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Most Confused Classes</a:t>
              </a:r>
              <a:endParaRPr lang="en-US" sz="160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640080" y="1737360"/>
              <a:ext cx="4937760" cy="594360"/>
            </a:xfrm>
            <a:prstGeom prst="rect">
              <a:avLst/>
            </a:prstGeom>
            <a:solidFill>
              <a:srgbClr val="F4F6FC"/>
            </a:solidFill>
            <a:ln/>
          </p:spPr>
        </p:sp>
        <p:sp>
          <p:nvSpPr>
            <p:cNvPr id="5" name="Shape 3"/>
            <p:cNvSpPr/>
            <p:nvPr/>
          </p:nvSpPr>
          <p:spPr>
            <a:xfrm>
              <a:off x="914400" y="1970532"/>
              <a:ext cx="128016" cy="128016"/>
            </a:xfrm>
            <a:prstGeom prst="ellipse">
              <a:avLst/>
            </a:prstGeom>
            <a:solidFill>
              <a:srgbClr val="DC2626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1188720" y="1737360"/>
              <a:ext cx="429768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5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Neutral → Negative</a:t>
              </a:r>
              <a:endParaRPr lang="en-US" sz="13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40080" y="2468880"/>
              <a:ext cx="4937760" cy="594360"/>
            </a:xfrm>
            <a:prstGeom prst="rect">
              <a:avLst/>
            </a:prstGeom>
            <a:solidFill>
              <a:srgbClr val="F4F6FC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914400" y="2702052"/>
              <a:ext cx="128016" cy="128016"/>
            </a:xfrm>
            <a:prstGeom prst="ellipse">
              <a:avLst/>
            </a:prstGeom>
            <a:solidFill>
              <a:srgbClr val="16A34A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1188720" y="2468880"/>
              <a:ext cx="429768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5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Neutral → Positive</a:t>
              </a:r>
              <a:endParaRPr lang="en-US" sz="135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640080" y="3200400"/>
              <a:ext cx="4937760" cy="594360"/>
            </a:xfrm>
            <a:prstGeom prst="rect">
              <a:avLst/>
            </a:prstGeom>
            <a:solidFill>
              <a:srgbClr val="F4F6FC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914400" y="3433572"/>
              <a:ext cx="128016" cy="128016"/>
            </a:xfrm>
            <a:prstGeom prst="ellipse">
              <a:avLst/>
            </a:prstGeom>
            <a:solidFill>
              <a:srgbClr val="64748B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1188720" y="3200400"/>
              <a:ext cx="429768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5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Positive → Neutral</a:t>
              </a:r>
              <a:endParaRPr lang="en-US" sz="13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40080" y="4114800"/>
              <a:ext cx="4937760" cy="10972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Neutral sentiment is the hardest class for both models (F1 ≈ 0.60)  short, factual, or question-style tweets share vocabulary with genuine complaints or lack sentiment cues altogether.</a:t>
              </a:r>
              <a:endParaRPr lang="en-US" sz="120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598932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Misclassified Examples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89320" y="1737360"/>
            <a:ext cx="5577840" cy="12344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856232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"@JetBlue actually flight 1089 not 1098"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9632" y="2514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Neutral  →  Predicted: Negative (80.2%)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89320" y="3154680"/>
            <a:ext cx="5577840" cy="12344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9" name="Text 17"/>
          <p:cNvSpPr/>
          <p:nvPr/>
        </p:nvSpPr>
        <p:spPr>
          <a:xfrm>
            <a:off x="6199632" y="3273552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"@AmericanAir Thank you, you too!"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99632" y="3931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Neutral  →  Predicted: Positive (97.5%)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89320" y="4572000"/>
            <a:ext cx="5577840" cy="12344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6199632" y="4690872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"@AmericanAir I wish I could remember all of their names!"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99632" y="5349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Positive  →  Predicted: Neutral (50.1%, low confidence)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355080" y="4572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394960" cy="50749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527048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35331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Logistic Regression for production monitoring  fast, cheap, and its predictions can be explained in plain language.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441448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26771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BiLSTM as an optional "high-accuracy" mode for periodic deep-dive reports.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355848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18211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low-confidence predictions to a human reviewer instead of auto-classifying.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4270248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09651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spikes in "delayed" / "cancelled" / "luggage" negative tweets as an early operational-issue signal.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5184648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01091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treat neutral predictions as "no action needed" without spot-checking.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1234440"/>
            <a:ext cx="5166360" cy="5074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1572768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1399032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an end-to-end NLP pipeline: cleaning, EDA, dual-model training, evaluation, error analysis, interpretability, and dashboard deployment.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2715768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2542032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achieved the best raw performance (80.0% accuracy); Logistic Regression remains highly competitive given its speed, size, and interpretability.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3858768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3685032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sentiment is the shared limitation of both approaches  a direction for future work, not a flaw of either model.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5001768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4828032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BrandPulse AI dashboard gives a marketing team both the tool and the transparency needed to trust and act on its output.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1099</Words>
  <Application>Microsoft Office PowerPoint</Application>
  <PresentationFormat>Widescreen</PresentationFormat>
  <Paragraphs>166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Sisira TS</cp:lastModifiedBy>
  <cp:revision>2</cp:revision>
  <dcterms:created xsi:type="dcterms:W3CDTF">2026-08-15T04:04:55Z</dcterms:created>
  <dcterms:modified xsi:type="dcterms:W3CDTF">2026-08-16T04:47:14Z</dcterms:modified>
</cp:coreProperties>
</file>